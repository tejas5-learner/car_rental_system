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1" d="100"/>
          <a:sy n="31" d="100"/>
        </p:scale>
        <p:origin x="8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ew from inside a stone structure, looking out towards stairs and a clear, blue sky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 modern white building with glass panels against a clear, blue sky"/>
          <p:cNvSpPr>
            <a:spLocks noGrp="1"/>
          </p:cNvSpPr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Small section of a modern shell bridge in Qingdao, Shandong, China with a partly cloudy sky above"/>
          <p:cNvSpPr>
            <a:spLocks noGrp="1"/>
          </p:cNvSpPr>
          <p:nvPr>
            <p:ph type="pic" idx="22"/>
          </p:nvPr>
        </p:nvSpPr>
        <p:spPr>
          <a:xfrm>
            <a:off x="9271000" y="1263848"/>
            <a:ext cx="16773843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Low-angle exterior view of a modern building facade covered with aluminium discs under a clear, blue sky"/>
          <p:cNvSpPr>
            <a:spLocks noGrp="1"/>
          </p:cNvSpPr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Low-angle view of a modern, curved building under a cloudy sky"/>
          <p:cNvSpPr>
            <a:spLocks noGrp="1"/>
          </p:cNvSpPr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View from inside a modern white building with glass panels, looking up to a bright, partly cloudy sky"/>
          <p:cNvSpPr>
            <a:spLocks noGrp="1"/>
          </p:cNvSpPr>
          <p:nvPr>
            <p:ph type="pic" idx="23"/>
          </p:nvPr>
        </p:nvSpPr>
        <p:spPr>
          <a:xfrm>
            <a:off x="-124635" y="1270000"/>
            <a:ext cx="16840169" cy="112437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Low-angle view of the Azadi Tower in Tehran, Iran against a clear, bright sky"/>
          <p:cNvSpPr>
            <a:spLocks noGrp="1"/>
          </p:cNvSpPr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1602-24-737-115   Sri Lakshmi…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Autofit/>
          </a:bodyPr>
          <a:lstStyle/>
          <a:p>
            <a:pPr defTabSz="387984">
              <a:defRPr sz="1692"/>
            </a:pPr>
            <a:r>
              <a:rPr sz="2400" dirty="0"/>
              <a:t>1602-24-737-115   Sri Lakshmi</a:t>
            </a:r>
          </a:p>
          <a:p>
            <a:pPr defTabSz="387984">
              <a:defRPr sz="1692"/>
            </a:pPr>
            <a:r>
              <a:rPr sz="2400" dirty="0"/>
              <a:t>1602-24-737-119 Tejas Parab</a:t>
            </a:r>
          </a:p>
        </p:txBody>
      </p:sp>
      <p:sp>
        <p:nvSpPr>
          <p:cNvPr id="172" name="Car Rental System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Car Rental System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Introduction:…"/>
          <p:cNvSpPr txBox="1"/>
          <p:nvPr/>
        </p:nvSpPr>
        <p:spPr>
          <a:xfrm>
            <a:off x="789918" y="919551"/>
            <a:ext cx="22254490" cy="12285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4700" b="1"/>
            </a:pPr>
            <a:r>
              <a:rPr dirty="0"/>
              <a:t>Introduction:</a:t>
            </a:r>
          </a:p>
          <a:p>
            <a:pPr>
              <a:defRPr sz="4100"/>
            </a:pPr>
            <a:r>
              <a:rPr dirty="0"/>
              <a:t>The Car Rental System aims to automate the process of renting and managing cars using</a:t>
            </a:r>
            <a:endParaRPr lang="en-US" dirty="0"/>
          </a:p>
          <a:p>
            <a:pPr>
              <a:defRPr sz="4100"/>
            </a:pPr>
            <a:r>
              <a:rPr dirty="0"/>
              <a:t>Object-Oriented Programming concepts. It simplifies operations like car registration, availability </a:t>
            </a:r>
            <a:endParaRPr lang="en-US" dirty="0"/>
          </a:p>
          <a:p>
            <a:pPr>
              <a:defRPr sz="4100"/>
            </a:pPr>
            <a:r>
              <a:rPr dirty="0"/>
              <a:t>checking, and rent calculation.</a:t>
            </a:r>
          </a:p>
          <a:p>
            <a:pPr>
              <a:defRPr sz="4100"/>
            </a:pPr>
            <a:endParaRPr dirty="0"/>
          </a:p>
          <a:p>
            <a:pPr>
              <a:defRPr sz="4700" b="1"/>
            </a:pPr>
            <a:r>
              <a:rPr dirty="0"/>
              <a:t>Objectives:</a:t>
            </a:r>
          </a:p>
          <a:p>
            <a:pPr marL="520700" indent="-520700">
              <a:buSzPct val="123000"/>
              <a:buChar char="•"/>
              <a:defRPr sz="4100"/>
            </a:pPr>
            <a:r>
              <a:rPr dirty="0"/>
              <a:t>Provide an efficient, error-free rental management system</a:t>
            </a:r>
          </a:p>
          <a:p>
            <a:pPr marL="520700" indent="-520700">
              <a:buSzPct val="123000"/>
              <a:buChar char="•"/>
              <a:defRPr sz="4100"/>
            </a:pPr>
            <a:r>
              <a:rPr dirty="0"/>
              <a:t>Store and manage car and customer details securely</a:t>
            </a:r>
          </a:p>
          <a:p>
            <a:pPr marL="520700" indent="-520700">
              <a:buSzPct val="123000"/>
              <a:buChar char="•"/>
              <a:defRPr sz="4100"/>
            </a:pPr>
            <a:r>
              <a:rPr dirty="0"/>
              <a:t>Apply OOP, Exception Handling, and Multithreading concepts</a:t>
            </a:r>
          </a:p>
          <a:p>
            <a:pPr marL="520700" indent="-520700">
              <a:buSzPct val="123000"/>
              <a:buChar char="•"/>
              <a:defRPr sz="4100"/>
            </a:pPr>
            <a:r>
              <a:rPr dirty="0"/>
              <a:t>Demonstrate modular, reusable, and maintainable Java design</a:t>
            </a:r>
          </a:p>
          <a:p>
            <a:pPr>
              <a:defRPr sz="4100"/>
            </a:pPr>
            <a:endParaRPr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ore Java Concepts:…"/>
          <p:cNvSpPr txBox="1"/>
          <p:nvPr/>
        </p:nvSpPr>
        <p:spPr>
          <a:xfrm>
            <a:off x="894819" y="883555"/>
            <a:ext cx="22932247" cy="11010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5000" b="1"/>
            </a:pPr>
            <a:r>
              <a:t>Core Java Concepts:</a:t>
            </a:r>
          </a:p>
          <a:p>
            <a:pPr>
              <a:defRPr sz="4000"/>
            </a:pPr>
            <a:r>
              <a:t>Classes &amp; Objects: Represent Car, Customer, Rental entities</a:t>
            </a:r>
          </a:p>
          <a:p>
            <a:pPr>
              <a:defRPr sz="4000"/>
            </a:pPr>
            <a:r>
              <a:t>Encapsulation: Secure data using private fields and accessors</a:t>
            </a:r>
          </a:p>
          <a:p>
            <a:pPr>
              <a:defRPr sz="4000"/>
            </a:pPr>
            <a:r>
              <a:t>Inheritance: Specialized car types (e.g., LuxuryCar, EconomyCar) inherit from Car</a:t>
            </a:r>
          </a:p>
          <a:p>
            <a:pPr>
              <a:defRPr sz="4000"/>
            </a:pPr>
            <a:r>
              <a:t>Polymorphism: Rent calculation differs per car type</a:t>
            </a:r>
          </a:p>
          <a:p>
            <a:pPr>
              <a:defRPr sz="4000"/>
            </a:pPr>
            <a:r>
              <a:t>Abstraction: Abstract class or interface Vehicle defines common methods</a:t>
            </a:r>
          </a:p>
          <a:p>
            <a:pPr>
              <a:defRPr sz="4600" b="1"/>
            </a:pPr>
            <a:r>
              <a:t>Additional Concepts:</a:t>
            </a:r>
          </a:p>
          <a:p>
            <a:pPr>
              <a:defRPr sz="4000"/>
            </a:pPr>
            <a:r>
              <a:t>Exception Handling:Handle invalid inputs, unavailable cars, file errors, etc. using try-catch-finallyExample: Throw custom exceptions like CarNotAvailableException</a:t>
            </a:r>
          </a:p>
          <a:p>
            <a:pPr>
              <a:defRPr sz="4000"/>
            </a:pPr>
            <a:r>
              <a:t>MultithreadingSimulate multiple users renting cars at the same time,Use threads for tasks like rent processing or data loading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Implementation Plan"/>
          <p:cNvSpPr txBox="1">
            <a:spLocks noGrp="1"/>
          </p:cNvSpPr>
          <p:nvPr>
            <p:ph type="title"/>
          </p:nvPr>
        </p:nvSpPr>
        <p:spPr>
          <a:xfrm>
            <a:off x="812301" y="384959"/>
            <a:ext cx="21971001" cy="1434950"/>
          </a:xfrm>
          <a:prstGeom prst="rect">
            <a:avLst/>
          </a:prstGeom>
        </p:spPr>
        <p:txBody>
          <a:bodyPr/>
          <a:lstStyle>
            <a:lvl1pPr>
              <a:defRPr sz="6800" spc="-136"/>
            </a:lvl1pPr>
          </a:lstStyle>
          <a:p>
            <a:r>
              <a:t>Implementation Plan</a:t>
            </a:r>
          </a:p>
        </p:txBody>
      </p:sp>
      <p:sp>
        <p:nvSpPr>
          <p:cNvPr id="180" name="Phase 1: Class Design…"/>
          <p:cNvSpPr txBox="1"/>
          <p:nvPr/>
        </p:nvSpPr>
        <p:spPr>
          <a:xfrm>
            <a:off x="889957" y="1495808"/>
            <a:ext cx="23467569" cy="12563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60000"/>
              </a:lnSpc>
              <a:defRPr sz="4000"/>
            </a:pPr>
            <a:r>
              <a:t>Phase 1: Class Design</a:t>
            </a:r>
          </a:p>
          <a:p>
            <a:pPr>
              <a:lnSpc>
                <a:spcPct val="60000"/>
              </a:lnSpc>
              <a:defRPr sz="4000"/>
            </a:pPr>
            <a:r>
              <a:t>Create the main classes:</a:t>
            </a:r>
          </a:p>
          <a:p>
            <a:pPr>
              <a:lnSpc>
                <a:spcPct val="60000"/>
              </a:lnSpc>
              <a:defRPr sz="4000"/>
            </a:pPr>
            <a:r>
              <a:t>Car (carID, model, rentPerDay, availability)</a:t>
            </a:r>
          </a:p>
          <a:p>
            <a:pPr>
              <a:lnSpc>
                <a:spcPct val="60000"/>
              </a:lnSpc>
              <a:defRPr sz="4000"/>
            </a:pPr>
            <a:r>
              <a:t>Customer (custID, name, phone)</a:t>
            </a:r>
          </a:p>
          <a:p>
            <a:pPr>
              <a:lnSpc>
                <a:spcPct val="60000"/>
              </a:lnSpc>
              <a:defRPr sz="4000"/>
            </a:pPr>
            <a:r>
              <a:t>Rental (rentalID, car, customer, days, totalCost)</a:t>
            </a:r>
          </a:p>
          <a:p>
            <a:pPr>
              <a:lnSpc>
                <a:spcPct val="60000"/>
              </a:lnSpc>
              <a:defRPr sz="4000"/>
            </a:pPr>
            <a:r>
              <a:t>Define relationships using OOP (composition and inheritance).</a:t>
            </a:r>
          </a:p>
          <a:p>
            <a:pPr>
              <a:lnSpc>
                <a:spcPct val="60000"/>
              </a:lnSpc>
              <a:defRPr sz="4000"/>
            </a:pPr>
            <a:r>
              <a:t>Phase 2: Functionality Implementation</a:t>
            </a:r>
          </a:p>
          <a:p>
            <a:pPr>
              <a:lnSpc>
                <a:spcPct val="60000"/>
              </a:lnSpc>
              <a:defRPr sz="4000"/>
            </a:pPr>
            <a:r>
              <a:t>Car Management: Add, remove, and update car details.</a:t>
            </a:r>
          </a:p>
          <a:p>
            <a:pPr>
              <a:lnSpc>
                <a:spcPct val="60000"/>
              </a:lnSpc>
              <a:defRPr sz="4000"/>
            </a:pPr>
            <a:r>
              <a:t>Rental Process: Customer selects car → system checks availability → rent is calculated → car marked unavailable.</a:t>
            </a:r>
          </a:p>
          <a:p>
            <a:pPr>
              <a:defRPr sz="4000"/>
            </a:pPr>
            <a:r>
              <a:t>Rent Calculation: Override method calculateRent() in subclasses for different rates.</a:t>
            </a:r>
          </a:p>
          <a:p>
            <a:pPr>
              <a:lnSpc>
                <a:spcPct val="60000"/>
              </a:lnSpc>
              <a:defRPr sz="4000"/>
            </a:pPr>
            <a:r>
              <a:t>Periodic updates or system logs.</a:t>
            </a:r>
          </a:p>
          <a:p>
            <a:pPr>
              <a:lnSpc>
                <a:spcPct val="60000"/>
              </a:lnSpc>
              <a:defRPr sz="4000"/>
            </a:pPr>
            <a:r>
              <a:t>Example: Two users renting cars simultaneously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hase 3: Exception Handling…"/>
          <p:cNvSpPr txBox="1"/>
          <p:nvPr/>
        </p:nvSpPr>
        <p:spPr>
          <a:xfrm>
            <a:off x="1235120" y="1408474"/>
            <a:ext cx="21951522" cy="99604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60000"/>
              </a:lnSpc>
              <a:defRPr sz="4000"/>
            </a:pPr>
            <a:r>
              <a:rPr dirty="0"/>
              <a:t>Phase 3: Exception Handling</a:t>
            </a:r>
          </a:p>
          <a:p>
            <a:pPr>
              <a:lnSpc>
                <a:spcPct val="60000"/>
              </a:lnSpc>
              <a:defRPr sz="4000"/>
            </a:pPr>
            <a:r>
              <a:rPr dirty="0"/>
              <a:t>Use try-catch to handle invalid inputs and unavailable cars.</a:t>
            </a:r>
          </a:p>
          <a:p>
            <a:pPr>
              <a:lnSpc>
                <a:spcPct val="60000"/>
              </a:lnSpc>
              <a:defRPr sz="4000"/>
            </a:pPr>
            <a:r>
              <a:rPr dirty="0"/>
              <a:t>Create custom exceptions (e.g., </a:t>
            </a:r>
            <a:r>
              <a:rPr dirty="0" err="1"/>
              <a:t>InvalidRentalPeriodException</a:t>
            </a:r>
            <a:r>
              <a:rPr dirty="0"/>
              <a:t>).</a:t>
            </a:r>
          </a:p>
          <a:p>
            <a:pPr>
              <a:lnSpc>
                <a:spcPct val="60000"/>
              </a:lnSpc>
              <a:defRPr sz="4000"/>
            </a:pPr>
            <a:r>
              <a:rPr dirty="0"/>
              <a:t>Phase 4: File Handling </a:t>
            </a:r>
            <a:endParaRPr lang="en-US" dirty="0"/>
          </a:p>
          <a:p>
            <a:pPr>
              <a:lnSpc>
                <a:spcPct val="60000"/>
              </a:lnSpc>
              <a:defRPr sz="4000"/>
            </a:pPr>
            <a:r>
              <a:rPr dirty="0"/>
              <a:t>Store and retrieve data (cars, customers, rentals) from text files using </a:t>
            </a:r>
            <a:r>
              <a:rPr dirty="0" err="1"/>
              <a:t>FileReader</a:t>
            </a:r>
            <a:r>
              <a:rPr dirty="0"/>
              <a:t> and </a:t>
            </a:r>
            <a:r>
              <a:rPr dirty="0" err="1"/>
              <a:t>FileWriter</a:t>
            </a:r>
            <a:r>
              <a:rPr dirty="0"/>
              <a:t>.</a:t>
            </a:r>
          </a:p>
          <a:p>
            <a:pPr>
              <a:lnSpc>
                <a:spcPct val="60000"/>
              </a:lnSpc>
              <a:defRPr sz="4000"/>
            </a:pPr>
            <a:r>
              <a:rPr dirty="0"/>
              <a:t>Phase 5: Multithreading </a:t>
            </a:r>
            <a:endParaRPr lang="en-US" dirty="0"/>
          </a:p>
          <a:p>
            <a:pPr>
              <a:lnSpc>
                <a:spcPct val="60000"/>
              </a:lnSpc>
              <a:defRPr sz="4000"/>
            </a:pPr>
            <a:r>
              <a:rPr dirty="0"/>
              <a:t>Create threads for:</a:t>
            </a:r>
          </a:p>
          <a:p>
            <a:pPr>
              <a:lnSpc>
                <a:spcPct val="60000"/>
              </a:lnSpc>
              <a:defRPr sz="4000"/>
            </a:pPr>
            <a:r>
              <a:rPr dirty="0"/>
              <a:t>Simulating multiple rental requests.</a:t>
            </a:r>
          </a:p>
          <a:p>
            <a:pPr>
              <a:lnSpc>
                <a:spcPct val="60000"/>
              </a:lnSpc>
              <a:defRPr sz="4000"/>
            </a:pPr>
            <a:r>
              <a:rPr dirty="0"/>
              <a:t>Phase 6: Testing &amp; Out</a:t>
            </a:r>
          </a:p>
          <a:p>
            <a:pPr>
              <a:lnSpc>
                <a:spcPct val="60000"/>
              </a:lnSpc>
              <a:defRPr sz="4000"/>
            </a:pPr>
            <a:r>
              <a:rPr dirty="0"/>
              <a:t>Display available cars, customer details, and total rent.</a:t>
            </a:r>
          </a:p>
          <a:p>
            <a:pPr>
              <a:lnSpc>
                <a:spcPct val="60000"/>
              </a:lnSpc>
              <a:defRPr sz="4000"/>
            </a:pPr>
            <a:r>
              <a:rPr dirty="0"/>
              <a:t>Handle invalid cases gracefully using exceptions.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Expected Outcomes:…"/>
          <p:cNvSpPr txBox="1"/>
          <p:nvPr/>
        </p:nvSpPr>
        <p:spPr>
          <a:xfrm>
            <a:off x="722285" y="1241288"/>
            <a:ext cx="20059714" cy="9956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4700" b="1"/>
            </a:pPr>
            <a:r>
              <a:t>Expected Outcomes:</a:t>
            </a:r>
          </a:p>
          <a:p>
            <a:pPr>
              <a:defRPr sz="4100"/>
            </a:pPr>
            <a:r>
              <a:t>Fully functional Java-based Car Rental System demonstrating all key OOP concepts.</a:t>
            </a:r>
          </a:p>
          <a:p>
            <a:pPr>
              <a:defRPr sz="4100"/>
            </a:pPr>
            <a:r>
              <a:t>Clean code with exception handling and multithreading to mimic real-life concurrency.</a:t>
            </a:r>
          </a:p>
          <a:p>
            <a:pPr>
              <a:defRPr sz="4100"/>
            </a:pPr>
            <a:r>
              <a:t>Easily extendable design for database or GUI integration later.</a:t>
            </a:r>
          </a:p>
          <a:p>
            <a:pPr>
              <a:defRPr sz="4100"/>
            </a:pPr>
            <a:endParaRPr/>
          </a:p>
          <a:p>
            <a:pPr>
              <a:defRPr sz="4700" b="1"/>
            </a:pPr>
            <a:r>
              <a:t>Benefits:</a:t>
            </a:r>
          </a:p>
          <a:p>
            <a:pPr>
              <a:defRPr sz="4100"/>
            </a:pPr>
            <a:r>
              <a:t>Reduces manual effort and errors.</a:t>
            </a:r>
          </a:p>
          <a:p>
            <a:pPr>
              <a:defRPr sz="4100"/>
            </a:pPr>
            <a:r>
              <a:t>Demonstrates practical application of advanced Java topics.</a:t>
            </a:r>
          </a:p>
          <a:p>
            <a:pPr>
              <a:defRPr sz="4100"/>
            </a:pPr>
            <a:r>
              <a:t>Strengthens understanding of OOP, exception handling, and threading.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</Words>
  <Application>Microsoft Office PowerPoint</Application>
  <PresentationFormat>Custom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Helvetica Neue</vt:lpstr>
      <vt:lpstr>Helvetica Neue Medium</vt:lpstr>
      <vt:lpstr>33_DynamicLight</vt:lpstr>
      <vt:lpstr>Car Rental System</vt:lpstr>
      <vt:lpstr>PowerPoint Presentation</vt:lpstr>
      <vt:lpstr>PowerPoint Presentation</vt:lpstr>
      <vt:lpstr>Implementation Plan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srilakshmi</dc:creator>
  <cp:lastModifiedBy>uma j</cp:lastModifiedBy>
  <cp:revision>1</cp:revision>
  <dcterms:modified xsi:type="dcterms:W3CDTF">2025-11-28T00:58:15Z</dcterms:modified>
</cp:coreProperties>
</file>